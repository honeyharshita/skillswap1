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E8189C-DFE3-45F7-B3E1-AE5C8C05E591}" type="datetimeFigureOut">
              <a:rPr lang="en-IN" smtClean="0"/>
              <a:t>16-08-2025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793C99-546D-4E82-ABBD-1918CAF10B1C}" type="slidenum">
              <a:rPr lang="en-IN" smtClean="0"/>
              <a:t>‹#›</a:t>
            </a:fld>
            <a:endParaRPr lang="en-IN"/>
          </a:p>
        </p:txBody>
      </p:sp>
    </p:spTree>
    <p:extLst>
      <p:ext uri="{BB962C8B-B14F-4D97-AF65-F5344CB8AC3E}">
        <p14:creationId xmlns:p14="http://schemas.microsoft.com/office/powerpoint/2010/main" val="2794495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7793C99-546D-4E82-ABBD-1918CAF10B1C}" type="slidenum">
              <a:rPr lang="en-IN" smtClean="0"/>
              <a:t>1</a:t>
            </a:fld>
            <a:endParaRPr lang="en-IN"/>
          </a:p>
        </p:txBody>
      </p:sp>
    </p:spTree>
    <p:extLst>
      <p:ext uri="{BB962C8B-B14F-4D97-AF65-F5344CB8AC3E}">
        <p14:creationId xmlns:p14="http://schemas.microsoft.com/office/powerpoint/2010/main" val="19147102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geeksforgeeks.org/blogs/front-end-development/" TargetMode="External"/><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hyperlink" Target="https://www.scaler.com/blog/frontend-development-tools/" TargetMode="External"/><Relationship Id="rId4" Type="http://schemas.openxmlformats.org/officeDocument/2006/relationships/hyperlink" Target="https://frontendmasters.com/guides/front-end-handbook/2024/"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arxiv.org/abs/2210.01535" TargetMode="External"/><Relationship Id="rId2" Type="http://schemas.openxmlformats.org/officeDocument/2006/relationships/hyperlink" Target="https://journalijsra.com/node/866" TargetMode="External"/><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hyperlink" Target="https://arxiv.org/abs/2010.11841"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0700" y="606425"/>
            <a:ext cx="7772400" cy="1470025"/>
          </a:xfrm>
        </p:spPr>
        <p:txBody>
          <a:bodyPr>
            <a:normAutofit fontScale="90000"/>
          </a:bodyPr>
          <a:lstStyle/>
          <a:p>
            <a:r>
              <a:rPr dirty="0"/>
              <a:t>Project Review-2</a:t>
            </a:r>
          </a:p>
          <a:p>
            <a:r>
              <a:rPr dirty="0"/>
              <a:t>(Literature Review / Applications Survey)</a:t>
            </a:r>
          </a:p>
        </p:txBody>
      </p:sp>
      <p:sp>
        <p:nvSpPr>
          <p:cNvPr id="3" name="Subtitle 2"/>
          <p:cNvSpPr>
            <a:spLocks noGrp="1"/>
          </p:cNvSpPr>
          <p:nvPr>
            <p:ph type="subTitle" idx="1"/>
          </p:nvPr>
        </p:nvSpPr>
        <p:spPr>
          <a:xfrm>
            <a:off x="1371600" y="2514600"/>
            <a:ext cx="6400800" cy="2959100"/>
          </a:xfrm>
        </p:spPr>
        <p:txBody>
          <a:bodyPr>
            <a:normAutofit/>
          </a:bodyPr>
          <a:lstStyle/>
          <a:p>
            <a:r>
              <a:rPr lang="en-IN" sz="1900" dirty="0"/>
              <a:t>Front-End Development Frameworks</a:t>
            </a:r>
            <a:br>
              <a:rPr lang="en-IN" sz="1900" dirty="0"/>
            </a:br>
            <a:r>
              <a:rPr lang="en-IN" sz="1900" dirty="0"/>
              <a:t>Project - Skill Swap – Peer Learning Platform with Skill -Based Matchmaking  </a:t>
            </a:r>
            <a:br>
              <a:rPr lang="en-IN" sz="1900" dirty="0"/>
            </a:br>
            <a:r>
              <a:rPr lang="en-IN" sz="1900" dirty="0"/>
              <a:t>2410030066 – V K Aparna</a:t>
            </a:r>
            <a:br>
              <a:rPr lang="en-IN" sz="1900" dirty="0"/>
            </a:br>
            <a:r>
              <a:rPr lang="en-IN" sz="1900" dirty="0"/>
              <a:t>2410030443 – B Harshitha</a:t>
            </a:r>
            <a:br>
              <a:rPr lang="en-IN" sz="1900" dirty="0"/>
            </a:br>
            <a:r>
              <a:rPr lang="en-IN" sz="1900" dirty="0"/>
              <a:t>2410030445 – B </a:t>
            </a:r>
            <a:r>
              <a:rPr lang="en-IN" sz="1900" dirty="0" err="1"/>
              <a:t>Praneeta</a:t>
            </a:r>
            <a:br>
              <a:rPr lang="en-IN" sz="1900" dirty="0"/>
            </a:br>
            <a:r>
              <a:rPr lang="en-IN" sz="1900" dirty="0"/>
              <a:t>Under Guidance of P. Sree Lakshmi mam </a:t>
            </a:r>
          </a:p>
          <a:p>
            <a:r>
              <a:rPr lang="en-IN" sz="1900" dirty="0"/>
              <a:t> Department - CSE</a:t>
            </a:r>
          </a:p>
          <a:p>
            <a:endParaRPr dirty="0"/>
          </a:p>
        </p:txBody>
      </p:sp>
      <p:pic>
        <p:nvPicPr>
          <p:cNvPr id="5" name="Picture 4">
            <a:extLst>
              <a:ext uri="{FF2B5EF4-FFF2-40B4-BE49-F238E27FC236}">
                <a16:creationId xmlns:a16="http://schemas.microsoft.com/office/drawing/2014/main" id="{29E028E9-EF99-BBA6-27C5-1E1A9F1B27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0254" y="5473700"/>
            <a:ext cx="3883842" cy="119575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2025" y="204788"/>
            <a:ext cx="8229600" cy="1143000"/>
          </a:xfrm>
        </p:spPr>
        <p:txBody>
          <a:bodyPr/>
          <a:lstStyle/>
          <a:p>
            <a:r>
              <a:rPr dirty="0"/>
              <a:t>Relevance to Project Title</a:t>
            </a:r>
          </a:p>
        </p:txBody>
      </p:sp>
      <p:sp>
        <p:nvSpPr>
          <p:cNvPr id="3" name="Content Placeholder 2"/>
          <p:cNvSpPr>
            <a:spLocks noGrp="1"/>
          </p:cNvSpPr>
          <p:nvPr>
            <p:ph idx="1"/>
          </p:nvPr>
        </p:nvSpPr>
        <p:spPr>
          <a:xfrm>
            <a:off x="457200" y="1273786"/>
            <a:ext cx="8229600" cy="4525963"/>
          </a:xfrm>
        </p:spPr>
        <p:txBody>
          <a:bodyPr/>
          <a:lstStyle/>
          <a:p>
            <a:r>
              <a:rPr lang="en-US" sz="1400" dirty="0"/>
              <a:t>We chose front-end development for the Skill Swap project because it focuses on how users interact with the platform. Since Skill Swap is all about connecting people to exchange skills, it needs a clean, easy-to-use interface where users can browse profiles, post their skills, and chat with others. A strong front-end makes the platform more engaging and accessible, especially for users on different devices.</a:t>
            </a:r>
          </a:p>
          <a:p>
            <a:r>
              <a:rPr lang="en-US" sz="1400" dirty="0"/>
              <a:t>By building a responsive and interactive front-end, we make sure the experience is smooth, friendly, and helpful—exactly what users need to feel confident while swapping skills.</a:t>
            </a:r>
          </a:p>
          <a:p>
            <a:r>
              <a:rPr lang="en-US" sz="1400" dirty="0"/>
              <a:t>The reviewed literature highlights the importance of building user-friendly, responsive, and interactive web platforms—especially for projects focused on collaboration and learning. React is widely recognized for its ability to create dynamic interfaces that improve user experience. Studies also support using tools like React Router for smooth navigation and Context API for managing shared data in smaller applications.</a:t>
            </a:r>
          </a:p>
          <a:p>
            <a:r>
              <a:rPr lang="en-US" sz="1400" dirty="0"/>
              <a:t>For styling, CSS and Bootstrap are recommended for creating clean, mobile-friendly layouts without complex setup. These insights directly support the goals of the Skill Swap project: to build a simple, engaging, and accessible platform where users can easily connect and exchange skills.</a:t>
            </a:r>
          </a:p>
          <a:p>
            <a:endParaRPr lang="en-US" sz="1400" dirty="0"/>
          </a:p>
        </p:txBody>
      </p:sp>
      <p:pic>
        <p:nvPicPr>
          <p:cNvPr id="4" name="Picture 3">
            <a:extLst>
              <a:ext uri="{FF2B5EF4-FFF2-40B4-BE49-F238E27FC236}">
                <a16:creationId xmlns:a16="http://schemas.microsoft.com/office/drawing/2014/main" id="{CCF5D2CD-2F6E-92B3-185B-69BD05A755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3568" y="5662246"/>
            <a:ext cx="3346515" cy="1195754"/>
          </a:xfrm>
          <a:prstGeom prst="rect">
            <a:avLst/>
          </a:prstGeom>
        </p:spPr>
      </p:pic>
      <p:graphicFrame>
        <p:nvGraphicFramePr>
          <p:cNvPr id="8" name="Table 7">
            <a:extLst>
              <a:ext uri="{FF2B5EF4-FFF2-40B4-BE49-F238E27FC236}">
                <a16:creationId xmlns:a16="http://schemas.microsoft.com/office/drawing/2014/main" id="{04D16A2F-8762-DF7E-191A-35D4D0EE4196}"/>
              </a:ext>
            </a:extLst>
          </p:cNvPr>
          <p:cNvGraphicFramePr>
            <a:graphicFrameLocks noGrp="1"/>
          </p:cNvGraphicFramePr>
          <p:nvPr>
            <p:extLst>
              <p:ext uri="{D42A27DB-BD31-4B8C-83A1-F6EECF244321}">
                <p14:modId xmlns:p14="http://schemas.microsoft.com/office/powerpoint/2010/main" val="4051729403"/>
              </p:ext>
            </p:extLst>
          </p:nvPr>
        </p:nvGraphicFramePr>
        <p:xfrm>
          <a:off x="1016000" y="4316389"/>
          <a:ext cx="6546849" cy="1742440"/>
        </p:xfrm>
        <a:graphic>
          <a:graphicData uri="http://schemas.openxmlformats.org/drawingml/2006/table">
            <a:tbl>
              <a:tblPr firstRow="1" bandRow="1">
                <a:tableStyleId>{5940675A-B579-460E-94D1-54222C63F5DA}</a:tableStyleId>
              </a:tblPr>
              <a:tblGrid>
                <a:gridCol w="2182283">
                  <a:extLst>
                    <a:ext uri="{9D8B030D-6E8A-4147-A177-3AD203B41FA5}">
                      <a16:colId xmlns:a16="http://schemas.microsoft.com/office/drawing/2014/main" val="224470209"/>
                    </a:ext>
                  </a:extLst>
                </a:gridCol>
                <a:gridCol w="1824567">
                  <a:extLst>
                    <a:ext uri="{9D8B030D-6E8A-4147-A177-3AD203B41FA5}">
                      <a16:colId xmlns:a16="http://schemas.microsoft.com/office/drawing/2014/main" val="376523113"/>
                    </a:ext>
                  </a:extLst>
                </a:gridCol>
                <a:gridCol w="2539999">
                  <a:extLst>
                    <a:ext uri="{9D8B030D-6E8A-4147-A177-3AD203B41FA5}">
                      <a16:colId xmlns:a16="http://schemas.microsoft.com/office/drawing/2014/main" val="4033501446"/>
                    </a:ext>
                  </a:extLst>
                </a:gridCol>
              </a:tblGrid>
              <a:tr h="370840">
                <a:tc>
                  <a:txBody>
                    <a:bodyPr/>
                    <a:lstStyle/>
                    <a:p>
                      <a:r>
                        <a:rPr lang="en-US" sz="1400" dirty="0"/>
                        <a:t>S.NO</a:t>
                      </a:r>
                      <a:endParaRPr lang="en-IN" sz="1400" dirty="0"/>
                    </a:p>
                  </a:txBody>
                  <a:tcPr/>
                </a:tc>
                <a:tc>
                  <a:txBody>
                    <a:bodyPr/>
                    <a:lstStyle/>
                    <a:p>
                      <a:r>
                        <a:rPr lang="en-IN" sz="1400" dirty="0"/>
                        <a:t>Reference</a:t>
                      </a:r>
                    </a:p>
                  </a:txBody>
                  <a:tcPr/>
                </a:tc>
                <a:tc>
                  <a:txBody>
                    <a:bodyPr/>
                    <a:lstStyle/>
                    <a:p>
                      <a:r>
                        <a:rPr lang="en-US" sz="1400" dirty="0"/>
                        <a:t>Links</a:t>
                      </a:r>
                      <a:endParaRPr lang="en-IN" sz="1400" dirty="0"/>
                    </a:p>
                  </a:txBody>
                  <a:tcPr/>
                </a:tc>
                <a:extLst>
                  <a:ext uri="{0D108BD9-81ED-4DB2-BD59-A6C34878D82A}">
                    <a16:rowId xmlns:a16="http://schemas.microsoft.com/office/drawing/2014/main" val="3666303343"/>
                  </a:ext>
                </a:extLst>
              </a:tr>
              <a:tr h="370840">
                <a:tc>
                  <a:txBody>
                    <a:bodyPr/>
                    <a:lstStyle/>
                    <a:p>
                      <a:r>
                        <a:rPr lang="en-US" sz="1400" dirty="0"/>
                        <a:t>1.</a:t>
                      </a:r>
                      <a:endParaRPr lang="en-IN" sz="1400" dirty="0"/>
                    </a:p>
                  </a:txBody>
                  <a:tcPr/>
                </a:tc>
                <a:tc>
                  <a:txBody>
                    <a:bodyPr/>
                    <a:lstStyle/>
                    <a:p>
                      <a:r>
                        <a:rPr lang="en-US" sz="1400" dirty="0"/>
                        <a:t>Geeks for Geeks </a:t>
                      </a:r>
                      <a:endParaRPr lang="en-IN" sz="1400" dirty="0"/>
                    </a:p>
                  </a:txBody>
                  <a:tcPr/>
                </a:tc>
                <a:tc>
                  <a:txBody>
                    <a:bodyPr/>
                    <a:lstStyle/>
                    <a:p>
                      <a:r>
                        <a:rPr lang="en-IN" sz="1200" dirty="0">
                          <a:hlinkClick r:id="rId3"/>
                        </a:rPr>
                        <a:t>Frontend Development - </a:t>
                      </a:r>
                      <a:r>
                        <a:rPr lang="en-IN" sz="1200" dirty="0" err="1">
                          <a:hlinkClick r:id="rId3"/>
                        </a:rPr>
                        <a:t>GeeksforGeeks</a:t>
                      </a:r>
                      <a:endParaRPr lang="en-IN" sz="1200" dirty="0"/>
                    </a:p>
                  </a:txBody>
                  <a:tcPr/>
                </a:tc>
                <a:extLst>
                  <a:ext uri="{0D108BD9-81ED-4DB2-BD59-A6C34878D82A}">
                    <a16:rowId xmlns:a16="http://schemas.microsoft.com/office/drawing/2014/main" val="2498652580"/>
                  </a:ext>
                </a:extLst>
              </a:tr>
              <a:tr h="370840">
                <a:tc>
                  <a:txBody>
                    <a:bodyPr/>
                    <a:lstStyle/>
                    <a:p>
                      <a:r>
                        <a:rPr lang="en-US" sz="1400" dirty="0"/>
                        <a:t>2.</a:t>
                      </a:r>
                      <a:endParaRPr lang="en-IN" sz="1400" dirty="0"/>
                    </a:p>
                  </a:txBody>
                  <a:tcPr/>
                </a:tc>
                <a:tc>
                  <a:txBody>
                    <a:bodyPr/>
                    <a:lstStyle/>
                    <a:p>
                      <a:r>
                        <a:rPr lang="en-US" sz="1400" dirty="0"/>
                        <a:t>Frontend Maters</a:t>
                      </a:r>
                      <a:endParaRPr lang="en-IN" sz="1400" dirty="0"/>
                    </a:p>
                  </a:txBody>
                  <a:tcPr/>
                </a:tc>
                <a:tc>
                  <a:txBody>
                    <a:bodyPr/>
                    <a:lstStyle/>
                    <a:p>
                      <a:r>
                        <a:rPr lang="en-US" sz="1200" dirty="0">
                          <a:hlinkClick r:id="rId4"/>
                        </a:rPr>
                        <a:t>The Front End Developer/Engineer Handbook 2024</a:t>
                      </a:r>
                      <a:endParaRPr lang="en-IN" sz="1200" dirty="0"/>
                    </a:p>
                  </a:txBody>
                  <a:tcPr/>
                </a:tc>
                <a:extLst>
                  <a:ext uri="{0D108BD9-81ED-4DB2-BD59-A6C34878D82A}">
                    <a16:rowId xmlns:a16="http://schemas.microsoft.com/office/drawing/2014/main" val="4175381018"/>
                  </a:ext>
                </a:extLst>
              </a:tr>
              <a:tr h="370840">
                <a:tc>
                  <a:txBody>
                    <a:bodyPr/>
                    <a:lstStyle/>
                    <a:p>
                      <a:r>
                        <a:rPr lang="en-US" sz="1400" dirty="0"/>
                        <a:t>3.</a:t>
                      </a:r>
                      <a:endParaRPr lang="en-IN" sz="1400" dirty="0"/>
                    </a:p>
                  </a:txBody>
                  <a:tcPr/>
                </a:tc>
                <a:tc>
                  <a:txBody>
                    <a:bodyPr/>
                    <a:lstStyle/>
                    <a:p>
                      <a:r>
                        <a:rPr lang="en-US" sz="1400" dirty="0"/>
                        <a:t>Scaler</a:t>
                      </a:r>
                      <a:endParaRPr lang="en-IN" sz="1400" dirty="0"/>
                    </a:p>
                  </a:txBody>
                  <a:tcPr/>
                </a:tc>
                <a:tc>
                  <a:txBody>
                    <a:bodyPr/>
                    <a:lstStyle/>
                    <a:p>
                      <a:r>
                        <a:rPr lang="en-US" sz="1200" dirty="0">
                          <a:hlinkClick r:id="rId5"/>
                        </a:rPr>
                        <a:t>40+ Essential Tools for Front End Developers in 2025</a:t>
                      </a:r>
                      <a:endParaRPr lang="en-IN" sz="1200" dirty="0"/>
                    </a:p>
                  </a:txBody>
                  <a:tcPr/>
                </a:tc>
                <a:extLst>
                  <a:ext uri="{0D108BD9-81ED-4DB2-BD59-A6C34878D82A}">
                    <a16:rowId xmlns:a16="http://schemas.microsoft.com/office/drawing/2014/main" val="373196372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247650"/>
            <a:ext cx="8229600" cy="1143000"/>
          </a:xfrm>
        </p:spPr>
        <p:txBody>
          <a:bodyPr>
            <a:normAutofit fontScale="90000"/>
          </a:bodyPr>
          <a:lstStyle/>
          <a:p>
            <a:r>
              <a:rPr dirty="0"/>
              <a:t>Depth &amp; Quality of Literature Review</a:t>
            </a:r>
          </a:p>
        </p:txBody>
      </p:sp>
      <p:graphicFrame>
        <p:nvGraphicFramePr>
          <p:cNvPr id="7" name="Content Placeholder 6">
            <a:extLst>
              <a:ext uri="{FF2B5EF4-FFF2-40B4-BE49-F238E27FC236}">
                <a16:creationId xmlns:a16="http://schemas.microsoft.com/office/drawing/2014/main" id="{411963BD-4BAF-08E7-9F36-632765F55432}"/>
              </a:ext>
            </a:extLst>
          </p:cNvPr>
          <p:cNvGraphicFramePr>
            <a:graphicFrameLocks noGrp="1"/>
          </p:cNvGraphicFramePr>
          <p:nvPr>
            <p:ph idx="1"/>
            <p:extLst>
              <p:ext uri="{D42A27DB-BD31-4B8C-83A1-F6EECF244321}">
                <p14:modId xmlns:p14="http://schemas.microsoft.com/office/powerpoint/2010/main" val="803150228"/>
              </p:ext>
            </p:extLst>
          </p:nvPr>
        </p:nvGraphicFramePr>
        <p:xfrm>
          <a:off x="133350" y="1140541"/>
          <a:ext cx="8756650" cy="4827639"/>
        </p:xfrm>
        <a:graphic>
          <a:graphicData uri="http://schemas.openxmlformats.org/drawingml/2006/table">
            <a:tbl>
              <a:tblPr firstRow="1" bandRow="1">
                <a:tableStyleId>{5940675A-B579-460E-94D1-54222C63F5DA}</a:tableStyleId>
              </a:tblPr>
              <a:tblGrid>
                <a:gridCol w="546100">
                  <a:extLst>
                    <a:ext uri="{9D8B030D-6E8A-4147-A177-3AD203B41FA5}">
                      <a16:colId xmlns:a16="http://schemas.microsoft.com/office/drawing/2014/main" val="3230314048"/>
                    </a:ext>
                  </a:extLst>
                </a:gridCol>
                <a:gridCol w="1473200">
                  <a:extLst>
                    <a:ext uri="{9D8B030D-6E8A-4147-A177-3AD203B41FA5}">
                      <a16:colId xmlns:a16="http://schemas.microsoft.com/office/drawing/2014/main" val="478762065"/>
                    </a:ext>
                  </a:extLst>
                </a:gridCol>
                <a:gridCol w="1187450">
                  <a:extLst>
                    <a:ext uri="{9D8B030D-6E8A-4147-A177-3AD203B41FA5}">
                      <a16:colId xmlns:a16="http://schemas.microsoft.com/office/drawing/2014/main" val="3485341586"/>
                    </a:ext>
                  </a:extLst>
                </a:gridCol>
                <a:gridCol w="2087306">
                  <a:extLst>
                    <a:ext uri="{9D8B030D-6E8A-4147-A177-3AD203B41FA5}">
                      <a16:colId xmlns:a16="http://schemas.microsoft.com/office/drawing/2014/main" val="64658113"/>
                    </a:ext>
                  </a:extLst>
                </a:gridCol>
                <a:gridCol w="1759975">
                  <a:extLst>
                    <a:ext uri="{9D8B030D-6E8A-4147-A177-3AD203B41FA5}">
                      <a16:colId xmlns:a16="http://schemas.microsoft.com/office/drawing/2014/main" val="3703018232"/>
                    </a:ext>
                  </a:extLst>
                </a:gridCol>
                <a:gridCol w="1702619">
                  <a:extLst>
                    <a:ext uri="{9D8B030D-6E8A-4147-A177-3AD203B41FA5}">
                      <a16:colId xmlns:a16="http://schemas.microsoft.com/office/drawing/2014/main" val="3034859108"/>
                    </a:ext>
                  </a:extLst>
                </a:gridCol>
              </a:tblGrid>
              <a:tr h="595618">
                <a:tc>
                  <a:txBody>
                    <a:bodyPr/>
                    <a:lstStyle/>
                    <a:p>
                      <a:r>
                        <a:rPr lang="en-US" sz="1600" dirty="0"/>
                        <a:t>S. No</a:t>
                      </a:r>
                      <a:endParaRPr lang="en-IN" sz="1600" dirty="0"/>
                    </a:p>
                  </a:txBody>
                  <a:tcPr/>
                </a:tc>
                <a:tc>
                  <a:txBody>
                    <a:bodyPr/>
                    <a:lstStyle/>
                    <a:p>
                      <a:r>
                        <a:rPr lang="en-US" sz="1600" dirty="0"/>
                        <a:t>Author/Source</a:t>
                      </a:r>
                      <a:endParaRPr lang="en-IN" sz="1600" dirty="0"/>
                    </a:p>
                  </a:txBody>
                  <a:tcPr/>
                </a:tc>
                <a:tc>
                  <a:txBody>
                    <a:bodyPr/>
                    <a:lstStyle/>
                    <a:p>
                      <a:r>
                        <a:rPr lang="en-US" sz="1600" dirty="0"/>
                        <a:t>Published Year</a:t>
                      </a:r>
                      <a:endParaRPr lang="en-IN" sz="1600" dirty="0"/>
                    </a:p>
                  </a:txBody>
                  <a:tcPr/>
                </a:tc>
                <a:tc>
                  <a:txBody>
                    <a:bodyPr/>
                    <a:lstStyle/>
                    <a:p>
                      <a:r>
                        <a:rPr lang="en-US" dirty="0"/>
                        <a:t> </a:t>
                      </a:r>
                      <a:r>
                        <a:rPr lang="en-US" sz="1600" dirty="0"/>
                        <a:t>Key Findings</a:t>
                      </a:r>
                      <a:endParaRPr lang="en-IN" sz="1600" dirty="0"/>
                    </a:p>
                  </a:txBody>
                  <a:tcPr/>
                </a:tc>
                <a:tc>
                  <a:txBody>
                    <a:bodyPr/>
                    <a:lstStyle/>
                    <a:p>
                      <a:r>
                        <a:rPr lang="en-IN" sz="1600" dirty="0"/>
                        <a:t>Relevance</a:t>
                      </a:r>
                    </a:p>
                  </a:txBody>
                  <a:tcPr/>
                </a:tc>
                <a:tc>
                  <a:txBody>
                    <a:bodyPr/>
                    <a:lstStyle/>
                    <a:p>
                      <a:r>
                        <a:rPr lang="en-US" sz="1600" dirty="0"/>
                        <a:t>Links</a:t>
                      </a:r>
                      <a:endParaRPr lang="en-IN" sz="1600" dirty="0"/>
                    </a:p>
                  </a:txBody>
                  <a:tcPr/>
                </a:tc>
                <a:extLst>
                  <a:ext uri="{0D108BD9-81ED-4DB2-BD59-A6C34878D82A}">
                    <a16:rowId xmlns:a16="http://schemas.microsoft.com/office/drawing/2014/main" val="1688704625"/>
                  </a:ext>
                </a:extLst>
              </a:tr>
              <a:tr h="1786853">
                <a:tc>
                  <a:txBody>
                    <a:bodyPr/>
                    <a:lstStyle/>
                    <a:p>
                      <a:r>
                        <a:rPr lang="en-US" dirty="0"/>
                        <a:t>1.</a:t>
                      </a:r>
                      <a:endParaRPr lang="en-IN" dirty="0"/>
                    </a:p>
                  </a:txBody>
                  <a:tcPr/>
                </a:tc>
                <a:tc>
                  <a:txBody>
                    <a:bodyPr/>
                    <a:lstStyle/>
                    <a:p>
                      <a:r>
                        <a:rPr lang="en-US" sz="1600" b="1" dirty="0"/>
                        <a:t>Shah et al.</a:t>
                      </a:r>
                      <a:r>
                        <a:rPr lang="en-US" sz="1600" dirty="0"/>
                        <a:t> – </a:t>
                      </a:r>
                      <a:r>
                        <a:rPr lang="en-US" sz="1600" i="1" dirty="0"/>
                        <a:t>Skill-Swap Web Application Case Study</a:t>
                      </a:r>
                      <a:endParaRPr lang="en-IN" sz="1600" dirty="0"/>
                    </a:p>
                  </a:txBody>
                  <a:tcPr/>
                </a:tc>
                <a:tc>
                  <a:txBody>
                    <a:bodyPr/>
                    <a:lstStyle/>
                    <a:p>
                      <a:r>
                        <a:rPr lang="en-IN" sz="1400" dirty="0"/>
                        <a:t>2025</a:t>
                      </a:r>
                    </a:p>
                  </a:txBody>
                  <a:tcPr/>
                </a:tc>
                <a:tc>
                  <a:txBody>
                    <a:bodyPr/>
                    <a:lstStyle/>
                    <a:p>
                      <a:r>
                        <a:rPr lang="en-US" sz="1400" dirty="0"/>
                        <a:t>Built a platform using front-end, matches learners &amp; teachers to reduce cost and improve personalization</a:t>
                      </a:r>
                      <a:endParaRPr lang="en-IN" sz="1400" dirty="0"/>
                    </a:p>
                  </a:txBody>
                  <a:tcPr/>
                </a:tc>
                <a:tc>
                  <a:txBody>
                    <a:bodyPr/>
                    <a:lstStyle/>
                    <a:p>
                      <a:r>
                        <a:rPr lang="en-US" sz="1400" dirty="0"/>
                        <a:t>Direct design insights for Skill Swap systems</a:t>
                      </a:r>
                      <a:endParaRPr lang="en-IN" sz="1400" dirty="0"/>
                    </a:p>
                  </a:txBody>
                  <a:tcPr/>
                </a:tc>
                <a:tc>
                  <a:txBody>
                    <a:bodyPr/>
                    <a:lstStyle/>
                    <a:p>
                      <a:pPr>
                        <a:buNone/>
                      </a:pPr>
                      <a:r>
                        <a:rPr lang="en-IN" sz="1400" dirty="0">
                          <a:hlinkClick r:id="rId2"/>
                        </a:rPr>
                        <a:t>https://journalijsra.com/node/866</a:t>
                      </a:r>
                      <a:endParaRPr lang="en-IN" sz="1400" dirty="0"/>
                    </a:p>
                    <a:p>
                      <a:pPr>
                        <a:buNone/>
                      </a:pPr>
                      <a:endParaRPr lang="en-IN" sz="1400" dirty="0"/>
                    </a:p>
                  </a:txBody>
                  <a:tcPr anchor="ctr"/>
                </a:tc>
                <a:extLst>
                  <a:ext uri="{0D108BD9-81ED-4DB2-BD59-A6C34878D82A}">
                    <a16:rowId xmlns:a16="http://schemas.microsoft.com/office/drawing/2014/main" val="4257930636"/>
                  </a:ext>
                </a:extLst>
              </a:tr>
              <a:tr h="1504719">
                <a:tc>
                  <a:txBody>
                    <a:bodyPr/>
                    <a:lstStyle/>
                    <a:p>
                      <a:r>
                        <a:rPr lang="en-US" dirty="0"/>
                        <a:t>2.</a:t>
                      </a:r>
                      <a:endParaRPr lang="en-IN" dirty="0"/>
                    </a:p>
                  </a:txBody>
                  <a:tcPr/>
                </a:tc>
                <a:tc>
                  <a:txBody>
                    <a:bodyPr/>
                    <a:lstStyle/>
                    <a:p>
                      <a:pPr>
                        <a:buNone/>
                      </a:pPr>
                      <a:r>
                        <a:rPr lang="en-US" b="1" dirty="0"/>
                        <a:t>Stephany &amp; </a:t>
                      </a:r>
                      <a:r>
                        <a:rPr lang="en-US" b="1" dirty="0" err="1"/>
                        <a:t>Teutloff</a:t>
                      </a:r>
                      <a:r>
                        <a:rPr lang="en-US" dirty="0"/>
                        <a:t> – </a:t>
                      </a:r>
                      <a:r>
                        <a:rPr lang="en-US" i="1" dirty="0"/>
                        <a:t>Value of Complementarity</a:t>
                      </a:r>
                      <a:endParaRPr lang="en-US" dirty="0"/>
                    </a:p>
                  </a:txBody>
                  <a:tcPr anchor="ctr"/>
                </a:tc>
                <a:tc>
                  <a:txBody>
                    <a:bodyPr/>
                    <a:lstStyle/>
                    <a:p>
                      <a:r>
                        <a:rPr lang="en-IN" sz="1400" dirty="0"/>
                        <a:t>2022</a:t>
                      </a:r>
                    </a:p>
                  </a:txBody>
                  <a:tcPr/>
                </a:tc>
                <a:tc>
                  <a:txBody>
                    <a:bodyPr/>
                    <a:lstStyle/>
                    <a:p>
                      <a:r>
                        <a:rPr lang="en-US" sz="1400" dirty="0"/>
                        <a:t>Skill value is determined by how it complements others</a:t>
                      </a:r>
                      <a:endParaRPr lang="en-IN" sz="1400" dirty="0"/>
                    </a:p>
                  </a:txBody>
                  <a:tcPr/>
                </a:tc>
                <a:tc>
                  <a:txBody>
                    <a:bodyPr/>
                    <a:lstStyle/>
                    <a:p>
                      <a:r>
                        <a:rPr lang="en-US" sz="1400" dirty="0"/>
                        <a:t>Underlines matching complementary skills in swaps</a:t>
                      </a:r>
                      <a:endParaRPr lang="en-IN" sz="1400" dirty="0"/>
                    </a:p>
                  </a:txBody>
                  <a:tcPr/>
                </a:tc>
                <a:tc>
                  <a:txBody>
                    <a:bodyPr/>
                    <a:lstStyle/>
                    <a:p>
                      <a:r>
                        <a:rPr lang="en-IN" dirty="0">
                          <a:hlinkClick r:id="rId3"/>
                        </a:rPr>
                        <a:t>https://arxiv.org/abs/2210.01535</a:t>
                      </a:r>
                      <a:endParaRPr lang="en-IN" dirty="0"/>
                    </a:p>
                    <a:p>
                      <a:endParaRPr lang="en-IN" dirty="0"/>
                    </a:p>
                  </a:txBody>
                  <a:tcPr/>
                </a:tc>
                <a:extLst>
                  <a:ext uri="{0D108BD9-81ED-4DB2-BD59-A6C34878D82A}">
                    <a16:rowId xmlns:a16="http://schemas.microsoft.com/office/drawing/2014/main" val="4230248295"/>
                  </a:ext>
                </a:extLst>
              </a:tr>
              <a:tr h="940449">
                <a:tc>
                  <a:txBody>
                    <a:bodyPr/>
                    <a:lstStyle/>
                    <a:p>
                      <a:r>
                        <a:rPr lang="en-US" dirty="0"/>
                        <a:t>3.</a:t>
                      </a:r>
                      <a:endParaRPr lang="en-IN" dirty="0"/>
                    </a:p>
                  </a:txBody>
                  <a:tcPr/>
                </a:tc>
                <a:tc>
                  <a:txBody>
                    <a:bodyPr/>
                    <a:lstStyle/>
                    <a:p>
                      <a:r>
                        <a:rPr lang="en-IN" b="1" dirty="0"/>
                        <a:t>Stephany</a:t>
                      </a:r>
                      <a:r>
                        <a:rPr lang="en-IN" dirty="0"/>
                        <a:t> – </a:t>
                      </a:r>
                      <a:r>
                        <a:rPr lang="en-IN" i="1" dirty="0"/>
                        <a:t>Cross-Skilling Returns</a:t>
                      </a:r>
                      <a:endParaRPr lang="en-IN" dirty="0"/>
                    </a:p>
                  </a:txBody>
                  <a:tcPr/>
                </a:tc>
                <a:tc>
                  <a:txBody>
                    <a:bodyPr/>
                    <a:lstStyle/>
                    <a:p>
                      <a:r>
                        <a:rPr lang="en-IN" dirty="0"/>
                        <a:t>2020</a:t>
                      </a:r>
                    </a:p>
                  </a:txBody>
                  <a:tcPr/>
                </a:tc>
                <a:tc>
                  <a:txBody>
                    <a:bodyPr/>
                    <a:lstStyle/>
                    <a:p>
                      <a:r>
                        <a:rPr lang="en-US" sz="1400" dirty="0"/>
                        <a:t>Benefits of new skills depend on existing skill set</a:t>
                      </a:r>
                      <a:endParaRPr lang="en-IN" sz="1400" dirty="0"/>
                    </a:p>
                  </a:txBody>
                  <a:tcPr/>
                </a:tc>
                <a:tc>
                  <a:txBody>
                    <a:bodyPr/>
                    <a:lstStyle/>
                    <a:p>
                      <a:r>
                        <a:rPr lang="en-US" sz="1200" dirty="0"/>
                        <a:t>Supports why skill matching matters in swaps</a:t>
                      </a:r>
                      <a:endParaRPr lang="en-IN" sz="1200" dirty="0"/>
                    </a:p>
                  </a:txBody>
                  <a:tcPr/>
                </a:tc>
                <a:tc>
                  <a:txBody>
                    <a:bodyPr/>
                    <a:lstStyle/>
                    <a:p>
                      <a:r>
                        <a:rPr lang="en-IN" sz="1400" dirty="0">
                          <a:hlinkClick r:id="rId4"/>
                        </a:rPr>
                        <a:t>https://arxiv.org/abs/2010.11841</a:t>
                      </a:r>
                      <a:endParaRPr lang="en-IN" sz="1400" dirty="0"/>
                    </a:p>
                    <a:p>
                      <a:endParaRPr lang="en-IN" sz="1400" dirty="0"/>
                    </a:p>
                  </a:txBody>
                  <a:tcPr/>
                </a:tc>
                <a:extLst>
                  <a:ext uri="{0D108BD9-81ED-4DB2-BD59-A6C34878D82A}">
                    <a16:rowId xmlns:a16="http://schemas.microsoft.com/office/drawing/2014/main" val="2642958148"/>
                  </a:ext>
                </a:extLst>
              </a:tr>
            </a:tbl>
          </a:graphicData>
        </a:graphic>
      </p:graphicFrame>
      <p:pic>
        <p:nvPicPr>
          <p:cNvPr id="4" name="Picture 3">
            <a:extLst>
              <a:ext uri="{FF2B5EF4-FFF2-40B4-BE49-F238E27FC236}">
                <a16:creationId xmlns:a16="http://schemas.microsoft.com/office/drawing/2014/main" id="{63A49C33-0658-C44A-460B-28E7049A523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96023" y="6046838"/>
            <a:ext cx="2818614" cy="81116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Critical Analysis, Synthesis &amp; Gap Identification</a:t>
            </a:r>
          </a:p>
        </p:txBody>
      </p:sp>
      <p:sp>
        <p:nvSpPr>
          <p:cNvPr id="3" name="Content Placeholder 2"/>
          <p:cNvSpPr>
            <a:spLocks noGrp="1"/>
          </p:cNvSpPr>
          <p:nvPr>
            <p:ph idx="1"/>
          </p:nvPr>
        </p:nvSpPr>
        <p:spPr>
          <a:xfrm>
            <a:off x="457200" y="1790700"/>
            <a:ext cx="8229600" cy="4525963"/>
          </a:xfrm>
        </p:spPr>
        <p:txBody>
          <a:bodyPr/>
          <a:lstStyle/>
          <a:p>
            <a:r>
              <a:rPr lang="en-US" sz="1400" dirty="0"/>
              <a:t>Modern front-end frameworks like React, Angular, at building dynamic, responsive user interfaces using reusable components and efficient rendering techniques</a:t>
            </a:r>
          </a:p>
          <a:p>
            <a:r>
              <a:rPr lang="en-US" sz="1400" dirty="0"/>
              <a:t>They streamline development and offer strong community support, making them ideal for scalable web applications. However, many current implementations face challenges such as steep learning curves, complex state management, and inconsistent user experiences across devices. </a:t>
            </a:r>
          </a:p>
          <a:p>
            <a:r>
              <a:rPr lang="en-US" sz="1400" dirty="0"/>
              <a:t>Additionally, performance optimization and accessibility are often overlooked or siloed between design and engineering teams.</a:t>
            </a:r>
          </a:p>
          <a:p>
            <a:r>
              <a:rPr lang="en-US" sz="1400" dirty="0"/>
              <a:t>The Skill Swap project addresses these gaps by using React with Context API and Bootstrap to create a lightweight, beginner-friendly platform. It focuses on clean UI/UX, fast load times, and intuitive navigation—ensuring that users can easily connect and exchange skills without technical friction.</a:t>
            </a:r>
          </a:p>
          <a:p>
            <a:endParaRPr sz="1400" dirty="0"/>
          </a:p>
        </p:txBody>
      </p:sp>
      <p:pic>
        <p:nvPicPr>
          <p:cNvPr id="4" name="Picture 3">
            <a:extLst>
              <a:ext uri="{FF2B5EF4-FFF2-40B4-BE49-F238E27FC236}">
                <a16:creationId xmlns:a16="http://schemas.microsoft.com/office/drawing/2014/main" id="{D57C1180-C518-AF1E-D822-914A93D31F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0723" y="5566734"/>
            <a:ext cx="2818614" cy="119575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Implementation Started</a:t>
            </a:r>
          </a:p>
        </p:txBody>
      </p:sp>
      <p:sp>
        <p:nvSpPr>
          <p:cNvPr id="3" name="Content Placeholder 2"/>
          <p:cNvSpPr>
            <a:spLocks noGrp="1"/>
          </p:cNvSpPr>
          <p:nvPr>
            <p:ph idx="1"/>
          </p:nvPr>
        </p:nvSpPr>
        <p:spPr>
          <a:xfrm>
            <a:off x="314632" y="1326475"/>
            <a:ext cx="8603226" cy="4586646"/>
          </a:xfrm>
        </p:spPr>
        <p:txBody>
          <a:bodyPr>
            <a:normAutofit/>
          </a:bodyPr>
          <a:lstStyle/>
          <a:p>
            <a:endParaRPr lang="en-US" sz="1400" dirty="0"/>
          </a:p>
          <a:p>
            <a:pPr marL="0" indent="0">
              <a:buNone/>
            </a:pPr>
            <a:r>
              <a:rPr lang="en-IN" sz="1600" b="1" dirty="0"/>
              <a:t>Project Implementation</a:t>
            </a:r>
          </a:p>
          <a:p>
            <a:r>
              <a:rPr lang="en-IN" sz="1600" b="1" dirty="0"/>
              <a:t>Frontend:</a:t>
            </a:r>
            <a:r>
              <a:rPr lang="en-IN" sz="1600" dirty="0"/>
              <a:t> HTML/CSS done (navigation, profile form, chat box).</a:t>
            </a:r>
          </a:p>
          <a:p>
            <a:pPr marL="0" indent="0">
              <a:buNone/>
            </a:pPr>
            <a:r>
              <a:rPr lang="en-US" sz="1600" b="1" dirty="0"/>
              <a:t>Outcomes</a:t>
            </a:r>
          </a:p>
          <a:p>
            <a:r>
              <a:rPr lang="en-US" sz="1600" b="1" dirty="0"/>
              <a:t>So far:</a:t>
            </a:r>
            <a:r>
              <a:rPr lang="en-US" sz="1600" dirty="0"/>
              <a:t> Website structure ready with forms &amp; chat UI.</a:t>
            </a:r>
          </a:p>
          <a:p>
            <a:r>
              <a:rPr lang="en-US" sz="1600" b="1" dirty="0"/>
              <a:t>Expected:</a:t>
            </a:r>
            <a:r>
              <a:rPr lang="en-US" sz="1600" dirty="0"/>
              <a:t> Working profile system, matchmaking, chat, and responsive UI.</a:t>
            </a:r>
          </a:p>
          <a:p>
            <a:pPr marL="0" indent="0">
              <a:buNone/>
            </a:pPr>
            <a:r>
              <a:rPr lang="en-IN" sz="1600" b="1" dirty="0"/>
              <a:t>Expected Milestones (Next Review)</a:t>
            </a:r>
          </a:p>
          <a:p>
            <a:r>
              <a:rPr lang="en-IN" sz="1600" dirty="0"/>
              <a:t>Profile system – save &amp; display profiles.</a:t>
            </a:r>
          </a:p>
          <a:p>
            <a:r>
              <a:rPr lang="en-IN" sz="1600" dirty="0"/>
              <a:t>Skill matching – basic algorithm for pairing users.</a:t>
            </a:r>
          </a:p>
          <a:p>
            <a:r>
              <a:rPr lang="en-IN" sz="1600" dirty="0"/>
              <a:t>Chat room – simple message exchange.</a:t>
            </a:r>
          </a:p>
          <a:p>
            <a:r>
              <a:rPr lang="en-IN" sz="1600" dirty="0"/>
              <a:t>UI improvements – responsive design &amp; styling.</a:t>
            </a:r>
          </a:p>
          <a:p>
            <a:pPr marL="0" indent="0">
              <a:buNone/>
            </a:pPr>
            <a:endParaRPr lang="en-IN" sz="1400" dirty="0"/>
          </a:p>
          <a:p>
            <a:endParaRPr lang="en-US" sz="1400" dirty="0"/>
          </a:p>
          <a:p>
            <a:endParaRPr lang="en-IN" sz="1400" dirty="0"/>
          </a:p>
          <a:p>
            <a:pPr marL="0" indent="0">
              <a:buNone/>
            </a:pPr>
            <a:endParaRPr lang="en-US" sz="1400" dirty="0"/>
          </a:p>
        </p:txBody>
      </p:sp>
      <p:pic>
        <p:nvPicPr>
          <p:cNvPr id="4" name="Picture 3">
            <a:extLst>
              <a:ext uri="{FF2B5EF4-FFF2-40B4-BE49-F238E27FC236}">
                <a16:creationId xmlns:a16="http://schemas.microsoft.com/office/drawing/2014/main" id="{C99D5135-702A-DA07-8D52-544259924F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0723" y="5566734"/>
            <a:ext cx="2818614" cy="119575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B60716-EF06-E3E7-404D-F4DF7DD1942F}"/>
              </a:ext>
            </a:extLst>
          </p:cNvPr>
          <p:cNvSpPr>
            <a:spLocks noGrp="1"/>
          </p:cNvSpPr>
          <p:nvPr>
            <p:ph idx="1"/>
          </p:nvPr>
        </p:nvSpPr>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dirty="0"/>
              <a:t>THANK YOU</a:t>
            </a:r>
            <a:endParaRPr lang="en-IN" dirty="0"/>
          </a:p>
        </p:txBody>
      </p:sp>
    </p:spTree>
    <p:extLst>
      <p:ext uri="{BB962C8B-B14F-4D97-AF65-F5344CB8AC3E}">
        <p14:creationId xmlns:p14="http://schemas.microsoft.com/office/powerpoint/2010/main" val="28822320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2833</TotalTime>
  <Words>672</Words>
  <Application>Microsoft Office PowerPoint</Application>
  <PresentationFormat>On-screen Show (4:3)</PresentationFormat>
  <Paragraphs>70</Paragraphs>
  <Slides>6</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Project Review-2 (Literature Review / Applications Survey)</vt:lpstr>
      <vt:lpstr>Relevance to Project Title</vt:lpstr>
      <vt:lpstr>Depth &amp; Quality of Literature Review</vt:lpstr>
      <vt:lpstr>Critical Analysis, Synthesis &amp; Gap Identification</vt:lpstr>
      <vt:lpstr>Project Implementation Started</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Sree Lakshmi P</dc:creator>
  <cp:keywords/>
  <dc:description>generated using python-pptx</dc:description>
  <cp:lastModifiedBy>RamalingeswaraRao Bapanapalli</cp:lastModifiedBy>
  <cp:revision>6</cp:revision>
  <dcterms:created xsi:type="dcterms:W3CDTF">2013-01-27T09:14:16Z</dcterms:created>
  <dcterms:modified xsi:type="dcterms:W3CDTF">2025-08-18T08:41:41Z</dcterms:modified>
  <cp:category/>
</cp:coreProperties>
</file>